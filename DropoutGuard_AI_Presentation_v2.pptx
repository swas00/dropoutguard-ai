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Good morning, evaluators. Today we present DropoutGuard AI: an explainable early-warning intelligence platform that predicts higher education student dropout 6 to 8 weeks before academic failure occurs.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Over 30% of undergraduate students drop out globally, costing universities more than $4.2 billion in lost tuition and state funding every year. But detection today is retrospective.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DropoutGuard AI transforms student retention from an autopsy into an early-warning radar with complete explainability.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Random Forest ensemble achieves a 0.925 ROC-AUC with an 87.4% recall on critically at-risk students.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 Kavya Sharma, her risk is 78%. But our system shows that her 2 backlogs contribute 40.5% of the risk.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flagship innovation is the real-time What-If Sensitivity Simulator. Advisors can test hypothetical interventions dynamically before taking 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Prediction without prescription is useless. DropoutGuard AI closes the loop with complete tracking.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critical ethical dimension of EdTech is student mental health. We never show students a scary 'High Risk' banner.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built DropoutGuard AI on the open LTI 1.3 standard, ensuring turnkey integration with Canvas, Blackboard, and Moodle.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 an average 10,000-student university, retaining just 15% more students preserves over $3.6 million in tuition revenue.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system is engineered for production reliability with zero-downtime offline-first fallbacks.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DropoutGuard AI bridges the gap between predictive AI research and real-world student success. Thank you, evaluators, and we would love to answer your questions or demonstrate any feature live right now!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62895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  <a:latin typeface="Calibri"/>
              </a:defRPr>
            </a:pPr>
            <a:r>
              <a:t>HACKATHON 2026 SUBMISSION • EVALUATOR PRESENTATION</a:t>
            </a:r>
          </a:p>
          <a:p>
            <a:pPr>
              <a:defRPr sz="4600" b="1">
                <a:solidFill>
                  <a:srgbClr val="FFFFFF"/>
                </a:solidFill>
                <a:latin typeface="Calibri"/>
              </a:defRPr>
            </a:pPr>
            <a:r>
              <a:t>DropoutGuard AI</a:t>
            </a:r>
          </a:p>
          <a:p>
            <a:pPr>
              <a:defRPr sz="1700">
                <a:solidFill>
                  <a:srgbClr val="F1F5F9"/>
                </a:solidFill>
                <a:latin typeface="Calibri"/>
              </a:defRPr>
            </a:pPr>
            <a:r>
              <a:t>Explainable Predictive Intelligence &amp; Early Intervention Platform for Higher Education Retention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3291840"/>
            <a:ext cx="2468880" cy="2286000"/>
          </a:xfrm>
          <a:prstGeom prst="roundRect">
            <a:avLst/>
          </a:prstGeom>
          <a:solidFill>
            <a:srgbClr val="192440"/>
          </a:solidFill>
          <a:ln w="22225">
            <a:solidFill>
              <a:srgbClr val="A5B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3429000"/>
            <a:ext cx="21945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A5B4FC"/>
                </a:solidFill>
                <a:latin typeface="Calibri"/>
              </a:defRPr>
            </a:pPr>
            <a:r>
              <a:t>0.925</a:t>
            </a:r>
          </a:p>
          <a:p>
            <a:pPr>
              <a:defRPr sz="1400" b="1">
                <a:solidFill>
                  <a:srgbClr val="FFFFFF"/>
                </a:solidFill>
                <a:latin typeface="Calibri"/>
              </a:defRPr>
            </a:pPr>
            <a:r>
              <a:t>ROC-AUC Score</a:t>
            </a:r>
          </a:p>
          <a:p>
            <a:pPr>
              <a:defRPr sz="1150">
                <a:solidFill>
                  <a:srgbClr val="F1F5F9"/>
                </a:solidFill>
                <a:latin typeface="Calibri"/>
              </a:defRPr>
            </a:pPr>
            <a:r>
              <a:t>Trained on UCI Benchmark</a:t>
            </a:r>
            <a:br/>
            <a:r>
              <a:t>(4,424 student cohort, 35 features)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66160" y="3291840"/>
            <a:ext cx="2468880" cy="2286000"/>
          </a:xfrm>
          <a:prstGeom prst="roundRect">
            <a:avLst/>
          </a:prstGeom>
          <a:solidFill>
            <a:srgbClr val="192440"/>
          </a:solidFill>
          <a:ln w="22225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703320" y="3429000"/>
            <a:ext cx="21945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38BDF8"/>
                </a:solidFill>
                <a:latin typeface="Calibri"/>
              </a:defRPr>
            </a:pPr>
            <a:r>
              <a:t>6-8 Wks</a:t>
            </a:r>
          </a:p>
          <a:p>
            <a:pPr>
              <a:defRPr sz="1400" b="1">
                <a:solidFill>
                  <a:srgbClr val="FFFFFF"/>
                </a:solidFill>
                <a:latin typeface="Calibri"/>
              </a:defRPr>
            </a:pPr>
            <a:r>
              <a:t>Early Warning Window</a:t>
            </a:r>
          </a:p>
          <a:p>
            <a:pPr>
              <a:defRPr sz="1150">
                <a:solidFill>
                  <a:srgbClr val="F1F5F9"/>
                </a:solidFill>
                <a:latin typeface="Calibri"/>
              </a:defRPr>
            </a:pPr>
            <a:r>
              <a:t>Identifies downward trajectory</a:t>
            </a:r>
            <a:br/>
            <a:r>
              <a:t>weeks before semester exams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291840"/>
            <a:ext cx="2468880" cy="2286000"/>
          </a:xfrm>
          <a:prstGeom prst="roundRect">
            <a:avLst/>
          </a:prstGeom>
          <a:solidFill>
            <a:srgbClr val="192440"/>
          </a:solidFill>
          <a:ln w="22225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3429000"/>
            <a:ext cx="21945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34D399"/>
                </a:solidFill>
                <a:latin typeface="Calibri"/>
              </a:defRPr>
            </a:pPr>
            <a:r>
              <a:t>SHAP</a:t>
            </a:r>
          </a:p>
          <a:p>
            <a:pPr>
              <a:defRPr sz="1400" b="1">
                <a:solidFill>
                  <a:srgbClr val="FFFFFF"/>
                </a:solidFill>
                <a:latin typeface="Calibri"/>
              </a:defRPr>
            </a:pPr>
            <a:r>
              <a:t>Explainable AI (XAI)</a:t>
            </a:r>
          </a:p>
          <a:p>
            <a:pPr>
              <a:defRPr sz="1150">
                <a:solidFill>
                  <a:srgbClr val="F1F5F9"/>
                </a:solidFill>
                <a:latin typeface="Calibri"/>
              </a:defRPr>
            </a:pPr>
            <a:r>
              <a:t>Zero black-boxes with precise</a:t>
            </a:r>
            <a:br/>
            <a:r>
              <a:t>feature weight attributions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69680" y="3291840"/>
            <a:ext cx="2468880" cy="2286000"/>
          </a:xfrm>
          <a:prstGeom prst="roundRect">
            <a:avLst/>
          </a:prstGeom>
          <a:solidFill>
            <a:srgbClr val="192440"/>
          </a:solidFill>
          <a:ln w="22225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06840" y="3429000"/>
            <a:ext cx="21945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BBF24"/>
                </a:solidFill>
                <a:latin typeface="Calibri"/>
              </a:defRPr>
            </a:pPr>
            <a:r>
              <a:t>LTI 1.3</a:t>
            </a:r>
          </a:p>
          <a:p>
            <a:pPr>
              <a:defRPr sz="1400" b="1">
                <a:solidFill>
                  <a:srgbClr val="FFFFFF"/>
                </a:solidFill>
                <a:latin typeface="Calibri"/>
              </a:defRPr>
            </a:pPr>
            <a:r>
              <a:t>Universal LMS Ready</a:t>
            </a:r>
          </a:p>
          <a:p>
            <a:pPr>
              <a:defRPr sz="1150">
                <a:solidFill>
                  <a:srgbClr val="F1F5F9"/>
                </a:solidFill>
                <a:latin typeface="Calibri"/>
              </a:defRPr>
            </a:pPr>
            <a:r>
              <a:t>Pre-configured live sync with</a:t>
            </a:r>
            <a:br/>
            <a:r>
              <a:t>Canvas, Blackboard, &amp; Moodle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94360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Deployed Production Web App on Render • 100% Offline-First Resilient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Calibri"/>
              </a:defRPr>
            </a:pPr>
            <a:r>
              <a:t>THE PROBLEM &amp;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Calibri"/>
              </a:defRPr>
            </a:pPr>
            <a:r>
              <a:t>The $4.2 Billion Higher Education Attrition Crisis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BD5E1"/>
                </a:solidFill>
                <a:latin typeface="Calibri"/>
              </a:defRPr>
            </a:pPr>
            <a:r>
              <a:t>Traditional institutional detection is retrospective, siloed, and too late to prevent dropouts.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429000" cy="2926080"/>
          </a:xfrm>
          <a:prstGeom prst="roundRect">
            <a:avLst/>
          </a:prstGeom>
          <a:solidFill>
            <a:srgbClr val="192440"/>
          </a:solidFill>
          <a:ln w="22225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30632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B7185"/>
                </a:solidFill>
              </a:defRPr>
            </a:pPr>
            <a:r>
              <a:t>32.9%</a:t>
            </a:r>
          </a:p>
          <a:p>
            <a:pPr>
              <a:defRPr sz="1500" b="1">
                <a:solidFill>
                  <a:srgbClr val="FFFFFF"/>
                </a:solidFill>
              </a:defRPr>
            </a:pPr>
            <a:r>
              <a:t>Global Dropout Rate</a:t>
            </a:r>
          </a:p>
          <a:p>
            <a:pPr>
              <a:defRPr sz="1200">
                <a:solidFill>
                  <a:srgbClr val="F1F5F9"/>
                </a:solidFill>
              </a:defRPr>
            </a:pPr>
            <a:r>
              <a:t>Nearly 1 in 3 college undergraduates drop out before completing their degree, severely capping their career trajectory and lifelong socioeconomic mobility.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920240"/>
            <a:ext cx="3429000" cy="2926080"/>
          </a:xfrm>
          <a:prstGeom prst="roundRect">
            <a:avLst/>
          </a:prstGeom>
          <a:solidFill>
            <a:srgbClr val="192440"/>
          </a:solidFill>
          <a:ln w="22225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2057400"/>
            <a:ext cx="30632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B7185"/>
                </a:solidFill>
              </a:defRPr>
            </a:pPr>
            <a:r>
              <a:t>Post-Mortem</a:t>
            </a:r>
          </a:p>
          <a:p>
            <a:pPr>
              <a:defRPr sz="1500" b="1">
                <a:solidFill>
                  <a:srgbClr val="FFFFFF"/>
                </a:solidFill>
              </a:defRPr>
            </a:pPr>
            <a:r>
              <a:t>Retrospective Detection</a:t>
            </a:r>
          </a:p>
          <a:p>
            <a:pPr>
              <a:defRPr sz="1200">
                <a:solidFill>
                  <a:srgbClr val="F1F5F9"/>
                </a:solidFill>
              </a:defRPr>
            </a:pPr>
            <a:r>
              <a:t>Universities identify student failure only after semester finals or academic probation notices are issued—when remediation is already too late.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80" y="1920240"/>
            <a:ext cx="3429000" cy="2926080"/>
          </a:xfrm>
          <a:prstGeom prst="roundRect">
            <a:avLst/>
          </a:prstGeom>
          <a:solidFill>
            <a:srgbClr val="192440"/>
          </a:solidFill>
          <a:ln w="22225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60" y="2057400"/>
            <a:ext cx="30632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B7185"/>
                </a:solidFill>
              </a:defRPr>
            </a:pPr>
            <a:r>
              <a:t>Siloed Data</a:t>
            </a:r>
          </a:p>
          <a:p>
            <a:pPr>
              <a:defRPr sz="1500" b="1">
                <a:solidFill>
                  <a:srgbClr val="FFFFFF"/>
                </a:solidFill>
              </a:defRPr>
            </a:pPr>
            <a:r>
              <a:t>Fragmented Intelligence</a:t>
            </a:r>
          </a:p>
          <a:p>
            <a:pPr>
              <a:defRPr sz="1200">
                <a:solidFill>
                  <a:srgbClr val="F1F5F9"/>
                </a:solidFill>
              </a:defRPr>
            </a:pPr>
            <a:r>
              <a:t>Attendance logs, LMS submissions, internal test marks, and fees compliance sit in disconnected systems with no unified risk intelligence.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120640"/>
            <a:ext cx="10698480" cy="1051560"/>
          </a:xfrm>
          <a:prstGeom prst="roundRect">
            <a:avLst/>
          </a:prstGeom>
          <a:solidFill>
            <a:srgbClr val="192440"/>
          </a:solidFill>
          <a:ln w="22225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212080"/>
            <a:ext cx="10332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FB7185"/>
                </a:solidFill>
              </a:defRPr>
            </a:pPr>
            <a:r>
              <a:t>THE INSTITUTIONAL BLIND SPOT: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By week 4, when a student begins skipping classes and missing lab assignments, faculty members receive zero automated alerts. By the time final grades arrive, the student has already disengaged.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Calibri"/>
              </a:defRPr>
            </a:pPr>
            <a:r>
              <a:t>THE DROPOUTGUARD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Calibri"/>
              </a:defRPr>
            </a:pPr>
            <a:r>
              <a:t>The Solution: Early Warning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BD5E1"/>
                </a:solidFill>
                <a:latin typeface="Calibri"/>
              </a:defRPr>
            </a:pPr>
            <a:r>
              <a:t>Transforming student retention from a post-mortem autopsy into proactive, prescriptive action.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429000" cy="2926080"/>
          </a:xfrm>
          <a:prstGeom prst="roundRect">
            <a:avLst/>
          </a:prstGeom>
          <a:solidFill>
            <a:srgbClr val="192440"/>
          </a:solidFill>
          <a:ln w="22225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30632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</a:defRPr>
            </a:pPr>
            <a:r>
              <a:t>🛡️ Early Warning Radar</a:t>
            </a:r>
          </a:p>
          <a:p>
            <a:pPr>
              <a:defRPr sz="1300" b="1">
                <a:solidFill>
                  <a:srgbClr val="38BDF8"/>
                </a:solidFill>
              </a:defRPr>
            </a:pPr>
            <a:r>
              <a:t>Weeks 4–6 Inflection</a:t>
            </a:r>
          </a:p>
          <a:p>
            <a:pPr>
              <a:defRPr sz="1200">
                <a:solidFill>
                  <a:srgbClr val="F1F5F9"/>
                </a:solidFill>
              </a:defRPr>
            </a:pPr>
            <a:r>
              <a:t>Synthesizes attendance decay, GPA trend velocity, and LMS engagement early in the semester to catch dropouts 6 to 8 weeks before final examinations occur.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920240"/>
            <a:ext cx="3429000" cy="2926080"/>
          </a:xfrm>
          <a:prstGeom prst="roundRect">
            <a:avLst/>
          </a:prstGeom>
          <a:solidFill>
            <a:srgbClr val="192440"/>
          </a:solidFill>
          <a:ln w="22225">
            <a:solidFill>
              <a:srgbClr val="A5B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2057400"/>
            <a:ext cx="30632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</a:defRPr>
            </a:pPr>
            <a:r>
              <a:t>🔍 Explainable AI (XAI)</a:t>
            </a:r>
          </a:p>
          <a:p>
            <a:pPr>
              <a:defRPr sz="1300" b="1">
                <a:solidFill>
                  <a:srgbClr val="A5B4FC"/>
                </a:solidFill>
              </a:defRPr>
            </a:pPr>
            <a:r>
              <a:t>Zero Black Boxes</a:t>
            </a:r>
          </a:p>
          <a:p>
            <a:pPr>
              <a:defRPr sz="1200">
                <a:solidFill>
                  <a:srgbClr val="F1F5F9"/>
                </a:solidFill>
              </a:defRPr>
            </a:pPr>
            <a:r>
              <a:t>Leverages SHAP feature attributions so advisors know exactly why a student is flagged (e.g. 2 course backlogs + 58% attendance) rather than guessing from an opaque score.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80" y="1920240"/>
            <a:ext cx="3429000" cy="2926080"/>
          </a:xfrm>
          <a:prstGeom prst="roundRect">
            <a:avLst/>
          </a:prstGeom>
          <a:solidFill>
            <a:srgbClr val="192440"/>
          </a:solidFill>
          <a:ln w="22225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60" y="2057400"/>
            <a:ext cx="30632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</a:defRPr>
            </a:pPr>
            <a:r>
              <a:t>⚡ Prescriptive Action</a:t>
            </a:r>
          </a:p>
          <a:p>
            <a:pPr>
              <a:defRPr sz="1300" b="1">
                <a:solidFill>
                  <a:srgbClr val="34D399"/>
                </a:solidFill>
              </a:defRPr>
            </a:pPr>
            <a:r>
              <a:t>Closing the Loop</a:t>
            </a:r>
          </a:p>
          <a:p>
            <a:pPr>
              <a:defRPr sz="1200">
                <a:solidFill>
                  <a:srgbClr val="F1F5F9"/>
                </a:solidFill>
              </a:defRPr>
            </a:pPr>
            <a:r>
              <a:t>Connects risk detection directly to automated SMS/Email nudges, 1-click faculty mentor routing, and an empathetic, supportive Student Wellness Hub.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120640"/>
            <a:ext cx="10698480" cy="1051560"/>
          </a:xfrm>
          <a:prstGeom prst="roundRect">
            <a:avLst/>
          </a:prstGeom>
          <a:solidFill>
            <a:srgbClr val="192440"/>
          </a:solidFill>
          <a:ln w="22225">
            <a:solidFill>
              <a:srgbClr val="A5B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212080"/>
            <a:ext cx="10332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50">
                <a:solidFill>
                  <a:srgbClr val="38BDF8"/>
                </a:solidFill>
              </a:defRPr>
            </a:pPr>
            <a:r>
              <a:t>BUILT FOR EVERY CAMPUS STAKEHOLDER (1-CLICK PERSONA SWITCHING):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University Dean (Cohort Analytics &amp; Risk Velocity) • Faculty Mentor (Case Dossier &amp; What-If Simulator) • Student (Supportive Wellness Hub &amp; Advisor Connect)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Calibri"/>
              </a:defRPr>
            </a:pPr>
            <a:r>
              <a:t>SCIENTIFIC &amp; ML RIGOR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Calibri"/>
              </a:defRPr>
            </a:pPr>
            <a:r>
              <a:t>Machine Learning Rigor &amp; Empirical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BD5E1"/>
                </a:solidFill>
                <a:latin typeface="Calibri"/>
              </a:defRPr>
            </a:pPr>
            <a:r>
              <a:t>Validated on the gold-standard UCI Higher Education Benchmark (4,424 verified trajectories).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5212080" cy="4297680"/>
          </a:xfrm>
          <a:prstGeom prst="roundRect">
            <a:avLst/>
          </a:prstGeom>
          <a:solidFill>
            <a:srgbClr val="192440"/>
          </a:solidFill>
          <a:ln w="22225">
            <a:solidFill>
              <a:srgbClr val="3C5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38BDF8"/>
                </a:solidFill>
              </a:defRPr>
            </a:pPr>
            <a:r>
              <a:t>MODEL BENCHMARK COMPARISON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914400" y="2514600"/>
          <a:ext cx="484632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1580"/>
                <a:gridCol w="1211580"/>
                <a:gridCol w="1211580"/>
                <a:gridCol w="1211580"/>
              </a:tblGrid>
              <a:tr h="438912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Architecture</a:t>
                      </a:r>
                    </a:p>
                  </a:txBody>
                  <a:tcPr>
                    <a:solidFill>
                      <a:srgbClr val="2D3C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ROC-AUC</a:t>
                      </a:r>
                    </a:p>
                  </a:txBody>
                  <a:tcPr>
                    <a:solidFill>
                      <a:srgbClr val="2D3C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Recall</a:t>
                      </a:r>
                    </a:p>
                  </a:txBody>
                  <a:tcPr>
                    <a:solidFill>
                      <a:srgbClr val="2D3C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F1 Score</a:t>
                      </a:r>
                    </a:p>
                  </a:txBody>
                  <a:tcPr>
                    <a:solidFill>
                      <a:srgbClr val="2D3C5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4D399"/>
                          </a:solidFill>
                        </a:defRPr>
                      </a:pPr>
                      <a:r>
                        <a:t>Random Forest (Ours)</a:t>
                      </a:r>
                    </a:p>
                  </a:txBody>
                  <a:tcPr>
                    <a:solidFill>
                      <a:srgbClr val="1E2A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4D399"/>
                          </a:solidFill>
                        </a:defRPr>
                      </a:pPr>
                      <a:r>
                        <a:t>0.925</a:t>
                      </a:r>
                    </a:p>
                  </a:txBody>
                  <a:tcPr>
                    <a:solidFill>
                      <a:srgbClr val="1E2A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4D399"/>
                          </a:solidFill>
                        </a:defRPr>
                      </a:pPr>
                      <a:r>
                        <a:t>87.4%</a:t>
                      </a:r>
                    </a:p>
                  </a:txBody>
                  <a:tcPr>
                    <a:solidFill>
                      <a:srgbClr val="1E2A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4D399"/>
                          </a:solidFill>
                        </a:defRPr>
                      </a:pPr>
                      <a:r>
                        <a:t>0.868</a:t>
                      </a:r>
                    </a:p>
                  </a:txBody>
                  <a:tcPr>
                    <a:solidFill>
                      <a:srgbClr val="1E2A4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Gradient Boosting (XGB)</a:t>
                      </a:r>
                    </a:p>
                  </a:txBody>
                  <a:tcPr>
                    <a:solidFill>
                      <a:srgbClr val="1E2A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0.912</a:t>
                      </a:r>
                    </a:p>
                  </a:txBody>
                  <a:tcPr>
                    <a:solidFill>
                      <a:srgbClr val="1E2A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85.1%</a:t>
                      </a:r>
                    </a:p>
                  </a:txBody>
                  <a:tcPr>
                    <a:solidFill>
                      <a:srgbClr val="1E2A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0.852</a:t>
                      </a:r>
                    </a:p>
                  </a:txBody>
                  <a:tcPr>
                    <a:solidFill>
                      <a:srgbClr val="1E2A4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Logistic Regression</a:t>
                      </a:r>
                    </a:p>
                  </a:txBody>
                  <a:tcPr>
                    <a:solidFill>
                      <a:srgbClr val="1E2A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0.812</a:t>
                      </a:r>
                    </a:p>
                  </a:txBody>
                  <a:tcPr>
                    <a:solidFill>
                      <a:srgbClr val="1E2A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73.8%</a:t>
                      </a:r>
                    </a:p>
                  </a:txBody>
                  <a:tcPr>
                    <a:solidFill>
                      <a:srgbClr val="1E2A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0.761</a:t>
                      </a:r>
                    </a:p>
                  </a:txBody>
                  <a:tcPr>
                    <a:solidFill>
                      <a:srgbClr val="1E2A4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Support Vector Classifier</a:t>
                      </a:r>
                    </a:p>
                  </a:txBody>
                  <a:tcPr>
                    <a:solidFill>
                      <a:srgbClr val="1E2A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0.825</a:t>
                      </a:r>
                    </a:p>
                  </a:txBody>
                  <a:tcPr>
                    <a:solidFill>
                      <a:srgbClr val="1E2A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75.2%</a:t>
                      </a:r>
                    </a:p>
                  </a:txBody>
                  <a:tcPr>
                    <a:solidFill>
                      <a:srgbClr val="1E2A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0.774</a:t>
                      </a:r>
                    </a:p>
                  </a:txBody>
                  <a:tcPr>
                    <a:solidFill>
                      <a:srgbClr val="1E2A48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914400" y="4892040"/>
            <a:ext cx="4846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38BDF8"/>
                </a:solidFill>
              </a:defRPr>
            </a:pPr>
            <a:r>
              <a:t>Dataset Characteristics:</a:t>
            </a:r>
          </a:p>
          <a:p>
            <a:pPr>
              <a:defRPr sz="1100">
                <a:solidFill>
                  <a:srgbClr val="F1F5F9"/>
                </a:solidFill>
              </a:defRPr>
            </a:pPr>
            <a:r>
              <a:t>• 4,424 records from the UCI Higher Education benchmark.</a:t>
            </a:r>
            <a:br/>
            <a:r>
              <a:t>• 35 multidimensional features (demographics, grades, socio-economic).</a:t>
            </a:r>
            <a:br/>
            <a:r>
              <a:t>• Stratified 80/20 train/test split with 5-fold cross-validation.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920240"/>
            <a:ext cx="5212080" cy="4297680"/>
          </a:xfrm>
          <a:prstGeom prst="roundRect">
            <a:avLst/>
          </a:prstGeom>
          <a:solidFill>
            <a:srgbClr val="192440"/>
          </a:solidFill>
          <a:ln w="22225">
            <a:solidFill>
              <a:srgbClr val="3C5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05740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A5B4FC"/>
                </a:solidFill>
              </a:defRPr>
            </a:pPr>
            <a:r>
              <a:t>TOP PREDICTIVE FACTORS (SHAP WEIGHTS)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514600"/>
            <a:ext cx="48463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FB7185"/>
                </a:solidFill>
              </a:defRPr>
            </a:pPr>
            <a:r>
              <a:t>1. Course Backlogs / Failed Units: 40.5%</a:t>
            </a:r>
          </a:p>
          <a:p>
            <a:pPr>
              <a:defRPr sz="1050">
                <a:solidFill>
                  <a:srgbClr val="F1F5F9"/>
                </a:solidFill>
              </a:defRPr>
            </a:pPr>
            <a:r>
              <a:t>    Highest statistical correlation with dropout inflection.</a:t>
            </a:r>
          </a:p>
          <a:p>
            <a:pPr>
              <a:defRPr b="1" sz="1200">
                <a:solidFill>
                  <a:srgbClr val="38BDF8"/>
                </a:solidFill>
              </a:defRPr>
            </a:pPr>
            <a:r>
              <a:t>2. GPA Trend Velocity (Delta): 18.7%</a:t>
            </a:r>
          </a:p>
          <a:p>
            <a:pPr>
              <a:defRPr sz="1050">
                <a:solidFill>
                  <a:srgbClr val="F1F5F9"/>
                </a:solidFill>
              </a:defRPr>
            </a:pPr>
            <a:r>
              <a:t>    Steep drop between previous and current semester.</a:t>
            </a:r>
          </a:p>
          <a:p>
            <a:pPr>
              <a:defRPr b="1" sz="1200">
                <a:solidFill>
                  <a:srgbClr val="38BDF8"/>
                </a:solidFill>
              </a:defRPr>
            </a:pPr>
            <a:r>
              <a:t>3. Class Attendance Compliance: 16.2%</a:t>
            </a:r>
          </a:p>
          <a:p>
            <a:pPr>
              <a:defRPr sz="1050">
                <a:solidFill>
                  <a:srgbClr val="F1F5F9"/>
                </a:solidFill>
              </a:defRPr>
            </a:pPr>
            <a:r>
              <a:t>    Dips below the mandatory 65% university threshold.</a:t>
            </a:r>
          </a:p>
          <a:p>
            <a:pPr>
              <a:defRPr b="1" sz="1200">
                <a:solidFill>
                  <a:srgbClr val="38BDF8"/>
                </a:solidFill>
              </a:defRPr>
            </a:pPr>
            <a:r>
              <a:t>4. Tuition &amp; Socio-Economic Status: 14.2%</a:t>
            </a:r>
          </a:p>
          <a:p>
            <a:pPr>
              <a:defRPr sz="1050">
                <a:solidFill>
                  <a:srgbClr val="F1F5F9"/>
                </a:solidFill>
              </a:defRPr>
            </a:pPr>
            <a:r>
              <a:t>    External financial and scholarship stability factors.</a:t>
            </a:r>
          </a:p>
          <a:p>
            <a:pPr>
              <a:defRPr b="1" sz="1200">
                <a:solidFill>
                  <a:srgbClr val="38BDF8"/>
                </a:solidFill>
              </a:defRPr>
            </a:pPr>
            <a:r>
              <a:t>5. Assignment &amp; Lab Completion: 10.4%</a:t>
            </a:r>
          </a:p>
          <a:p>
            <a:pPr>
              <a:defRPr sz="1050">
                <a:solidFill>
                  <a:srgbClr val="F1F5F9"/>
                </a:solidFill>
              </a:defRPr>
            </a:pPr>
            <a:r>
              <a:t>    Early indicators of student disengagement in weeks 3-5.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Calibri"/>
              </a:defRPr>
            </a:pPr>
            <a:r>
              <a:t>EXPLAINABILITY (XAI)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Calibri"/>
              </a:defRPr>
            </a:pPr>
            <a:r>
              <a:t>Explainable AI in Practice: Case Study STU1024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BD5E1"/>
                </a:solidFill>
                <a:latin typeface="Calibri"/>
              </a:defRPr>
            </a:pPr>
            <a:r>
              <a:t>Deconstructing composite risk into human-interpretable, accountable factors.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5212080" cy="4297680"/>
          </a:xfrm>
          <a:prstGeom prst="roundRect">
            <a:avLst/>
          </a:prstGeom>
          <a:solidFill>
            <a:srgbClr val="192440"/>
          </a:solidFill>
          <a:ln w="22225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FFFFFF"/>
                </a:solidFill>
              </a:defRPr>
            </a:pPr>
            <a:r>
              <a:t>Student: Kavya Sharma (ID: STU1024)</a:t>
            </a:r>
          </a:p>
          <a:p>
            <a:pPr>
              <a:defRPr sz="1300">
                <a:solidFill>
                  <a:srgbClr val="38BDF8"/>
                </a:solidFill>
              </a:defRPr>
            </a:pPr>
            <a:r>
              <a:t>B.Tech Computer Science • Semester 4</a:t>
            </a:r>
          </a:p>
          <a:p>
            <a:pPr>
              <a:defRPr b="1" sz="1400">
                <a:solidFill>
                  <a:srgbClr val="FB7185"/>
                </a:solidFill>
              </a:defRPr>
            </a:pPr>
            <a:r>
              <a:t>PREDICTED RISK: 78% (HIGH RISK FLAGGED)</a:t>
            </a:r>
          </a:p>
          <a:p>
            <a:br/>
            <a:pPr>
              <a:defRPr b="1" sz="1250">
                <a:solidFill>
                  <a:srgbClr val="FFFFFF"/>
                </a:solidFill>
              </a:defRPr>
            </a:pPr>
            <a:r>
              <a:t>Academic Telemetry Indicators:</a:t>
            </a:r>
          </a:p>
          <a:p>
            <a:pPr>
              <a:defRPr sz="1150">
                <a:solidFill>
                  <a:srgbClr val="F1F5F9"/>
                </a:solidFill>
              </a:defRPr>
            </a:pPr>
            <a:r>
              <a:t>• Class Attendance: 58% (Mandatory minimum: 65%)</a:t>
            </a:r>
          </a:p>
          <a:p>
            <a:pPr>
              <a:defRPr sz="1150">
                <a:solidFill>
                  <a:srgbClr val="F1F5F9"/>
                </a:solidFill>
              </a:defRPr>
            </a:pPr>
            <a:r>
              <a:t>• GPA Trend Velocity: -0.9 drop (Fell from 6.7 to 5.8)</a:t>
            </a:r>
          </a:p>
          <a:p>
            <a:pPr>
              <a:defRPr sz="1150">
                <a:solidFill>
                  <a:srgbClr val="F1F5F9"/>
                </a:solidFill>
              </a:defRPr>
            </a:pPr>
            <a:r>
              <a:t>• Active Course Backlogs: 2 Subjects (Math III &amp; Data Structures)</a:t>
            </a:r>
          </a:p>
          <a:p>
            <a:pPr>
              <a:defRPr sz="1150">
                <a:solidFill>
                  <a:srgbClr val="F1F5F9"/>
                </a:solidFill>
              </a:defRPr>
            </a:pPr>
            <a:r>
              <a:t>• Assignment Submission Rate: 50% (Missed 3 lab deliverables)</a:t>
            </a:r>
          </a:p>
          <a:p>
            <a:pPr>
              <a:defRPr sz="1150">
                <a:solidFill>
                  <a:srgbClr val="F1F5F9"/>
                </a:solidFill>
              </a:defRPr>
            </a:pPr>
            <a:r>
              <a:t>• Internal Assessment Score: 61 / 100</a:t>
            </a:r>
          </a:p>
          <a:p>
            <a:br/>
            <a:pPr>
              <a:defRPr b="1" sz="1150">
                <a:solidFill>
                  <a:srgbClr val="34D399"/>
                </a:solidFill>
              </a:defRPr>
            </a:pPr>
            <a:r>
              <a:t>Action: Supplementary exam clearance roadmap + assigned faculty mentoring.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920240"/>
            <a:ext cx="5212080" cy="4297680"/>
          </a:xfrm>
          <a:prstGeom prst="roundRect">
            <a:avLst/>
          </a:prstGeom>
          <a:solidFill>
            <a:srgbClr val="192440"/>
          </a:solidFill>
          <a:ln w="22225">
            <a:solidFill>
              <a:srgbClr val="3C5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10312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FFFFFF"/>
                </a:solidFill>
              </a:defRPr>
            </a:pPr>
            <a:r>
              <a:t>SHAP Factor Risk Contributions</a:t>
            </a:r>
          </a:p>
          <a:p>
            <a:pPr>
              <a:defRPr sz="1200">
                <a:solidFill>
                  <a:srgbClr val="38BDF8"/>
                </a:solidFill>
              </a:defRPr>
            </a:pPr>
            <a:r>
              <a:t>Every percentage point is mathematically accounted for:</a:t>
            </a:r>
          </a:p>
          <a:p>
            <a:br/>
            <a:pPr>
              <a:defRPr b="1" sz="1250">
                <a:solidFill>
                  <a:srgbClr val="FB7185"/>
                </a:solidFill>
              </a:defRPr>
            </a:pPr>
            <a:r>
              <a:t>Course Backlogs (2 subjects) ➔ +40.5%</a:t>
            </a:r>
          </a:p>
          <a:p>
            <a:pPr>
              <a:defRPr sz="1100">
                <a:solidFill>
                  <a:srgbClr val="F1F5F9"/>
                </a:solidFill>
              </a:defRPr>
            </a:pPr>
            <a:r>
              <a:t>High backlog density severely increases probability of non-completion.</a:t>
            </a:r>
          </a:p>
          <a:p>
            <a:br/>
            <a:pPr>
              <a:defRPr b="1" sz="1250">
                <a:solidFill>
                  <a:srgbClr val="FB7185"/>
                </a:solidFill>
              </a:defRPr>
            </a:pPr>
            <a:r>
              <a:t>Negative GPA Velocity (-0.9) ➔ +18.7%</a:t>
            </a:r>
          </a:p>
          <a:p>
            <a:pPr>
              <a:defRPr sz="1100">
                <a:solidFill>
                  <a:srgbClr val="F1F5F9"/>
                </a:solidFill>
              </a:defRPr>
            </a:pPr>
            <a:r>
              <a:t>Steep drop indicates disengagement or exam difficulty.</a:t>
            </a:r>
          </a:p>
          <a:p>
            <a:br/>
            <a:pPr>
              <a:defRPr b="1" sz="1250">
                <a:solidFill>
                  <a:srgbClr val="FBBF24"/>
                </a:solidFill>
              </a:defRPr>
            </a:pPr>
            <a:r>
              <a:t>Sub-60% Attendance (58%) ➔ +16.2%</a:t>
            </a:r>
          </a:p>
          <a:p>
            <a:pPr>
              <a:defRPr sz="1100">
                <a:solidFill>
                  <a:srgbClr val="F1F5F9"/>
                </a:solidFill>
              </a:defRPr>
            </a:pPr>
            <a:r>
              <a:t>Student misses core lecture context and lab assessments.</a:t>
            </a:r>
          </a:p>
          <a:p>
            <a:br/>
            <a:pPr>
              <a:defRPr b="1" sz="1250">
                <a:solidFill>
                  <a:srgbClr val="38BDF8"/>
                </a:solidFill>
              </a:defRPr>
            </a:pPr>
            <a:r>
              <a:t>Missed Coursework (50%) ➔ +10.4%</a:t>
            </a:r>
          </a:p>
          <a:p>
            <a:pPr>
              <a:defRPr sz="1100">
                <a:solidFill>
                  <a:srgbClr val="F1F5F9"/>
                </a:solidFill>
              </a:defRPr>
            </a:pPr>
            <a:r>
              <a:t>Failure to submit continuous evaluation records.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Calibri"/>
              </a:defRPr>
            </a:pPr>
            <a:r>
              <a:t>CORE INNOVATION &amp; SENSITIVITY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Calibri"/>
              </a:defRPr>
            </a:pPr>
            <a:r>
              <a:t>Interactive "What-If" Sensitivity Simulator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BD5E1"/>
                </a:solidFill>
                <a:latin typeface="Calibri"/>
              </a:defRPr>
            </a:pPr>
            <a:r>
              <a:t>Simulate the impact of academic interventions dynamically before executing counseling plans.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5212080" cy="4297680"/>
          </a:xfrm>
          <a:prstGeom prst="roundRect">
            <a:avLst/>
          </a:prstGeom>
          <a:solidFill>
            <a:srgbClr val="192440"/>
          </a:solidFill>
          <a:ln w="22225">
            <a:solidFill>
              <a:srgbClr val="3C5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FFFFFF"/>
                </a:solidFill>
              </a:defRPr>
            </a:pPr>
            <a:r>
              <a:t>Simulated Intervention Adjustments</a:t>
            </a:r>
          </a:p>
          <a:p>
            <a:pPr>
              <a:defRPr sz="1250">
                <a:solidFill>
                  <a:srgbClr val="CBD5E1"/>
                </a:solidFill>
              </a:defRPr>
            </a:pPr>
            <a:r>
              <a:t>Faculty advisor tests corrective milestones on interactive sliders:</a:t>
            </a:r>
          </a:p>
          <a:p>
            <a:br/>
            <a:pPr>
              <a:defRPr b="1" sz="1300">
                <a:solidFill>
                  <a:srgbClr val="38BDF8"/>
                </a:solidFill>
              </a:defRPr>
            </a:pPr>
            <a:r>
              <a:t>Target Attendance: 58% ➔ 75%</a:t>
            </a:r>
          </a:p>
          <a:p>
            <a:pPr>
              <a:defRPr sz="1100">
                <a:solidFill>
                  <a:srgbClr val="F1F5F9"/>
                </a:solidFill>
              </a:defRPr>
            </a:pPr>
            <a:r>
              <a:t>+17% Recovery through regular faculty check-ins</a:t>
            </a:r>
          </a:p>
          <a:p>
            <a:br/>
            <a:pPr>
              <a:defRPr b="1" sz="1300">
                <a:solidFill>
                  <a:srgbClr val="A5B4FC"/>
                </a:solidFill>
              </a:defRPr>
            </a:pPr>
            <a:r>
              <a:t>Target Assignment Rate: 50% ➔ 85%</a:t>
            </a:r>
          </a:p>
          <a:p>
            <a:pPr>
              <a:defRPr sz="1100">
                <a:solidFill>
                  <a:srgbClr val="F1F5F9"/>
                </a:solidFill>
              </a:defRPr>
            </a:pPr>
            <a:r>
              <a:t>+35% Recovery via automated deadline alerts</a:t>
            </a:r>
          </a:p>
          <a:p>
            <a:br/>
            <a:pPr>
              <a:defRPr b="1" sz="1300">
                <a:solidFill>
                  <a:srgbClr val="34D399"/>
                </a:solidFill>
              </a:defRPr>
            </a:pPr>
            <a:r>
              <a:t>Target Internal Marks: 61 ➔ 72 / 100</a:t>
            </a:r>
          </a:p>
          <a:p>
            <a:pPr>
              <a:defRPr sz="1100">
                <a:solidFill>
                  <a:srgbClr val="F1F5F9"/>
                </a:solidFill>
              </a:defRPr>
            </a:pPr>
            <a:r>
              <a:t>+11 Marks with peer tutoring &amp; study groups</a:t>
            </a:r>
          </a:p>
          <a:p>
            <a:br/>
            <a:pPr>
              <a:defRPr sz="1100">
                <a:solidFill>
                  <a:srgbClr val="38BDF8"/>
                </a:solidFill>
              </a:defRPr>
            </a:pPr>
            <a:r>
              <a:t>Real-Time Feedback: Instant sensitivity recalculation via dynamic partial-derivative feature perturbation.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920240"/>
            <a:ext cx="5212080" cy="4297680"/>
          </a:xfrm>
          <a:prstGeom prst="roundRect">
            <a:avLst/>
          </a:prstGeom>
          <a:solidFill>
            <a:srgbClr val="192440"/>
          </a:solidFill>
          <a:ln w="22225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37744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34D399"/>
                </a:solidFill>
              </a:defRPr>
            </a:pPr>
            <a:r>
              <a:t>DYNAMIC RECALCULATION OUTCOME</a:t>
            </a:r>
          </a:p>
          <a:p>
            <a:pPr>
              <a:defRPr b="1" sz="4600">
                <a:solidFill>
                  <a:srgbClr val="34D399"/>
                </a:solidFill>
              </a:defRPr>
            </a:pPr>
            <a:r>
              <a:t>78%  ➔  28%</a:t>
            </a:r>
          </a:p>
          <a:p>
            <a:pPr>
              <a:defRPr b="1" sz="1500">
                <a:solidFill>
                  <a:srgbClr val="FFFFFF"/>
                </a:solidFill>
              </a:defRPr>
            </a:pPr>
            <a:r>
              <a:t>STATUS: LOW RISK (NOMINAL STANDING)</a:t>
            </a:r>
          </a:p>
          <a:p>
            <a:br/>
            <a:pPr>
              <a:defRPr sz="1250">
                <a:solidFill>
                  <a:srgbClr val="F1F5F9"/>
                </a:solidFill>
              </a:defRPr>
            </a:pPr>
            <a:r>
              <a:t>• Total Risk Reduction: -50 Percentage Points</a:t>
            </a:r>
            <a:br/>
            <a:r>
              <a:t>• Proves that restoring attendance and assignment cadence will safely clear Kavya from danger.</a:t>
            </a:r>
            <a:br/>
            <a:r>
              <a:t>• Gives counselors concrete, motivating targets to share with the student.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Calibri"/>
              </a:defRPr>
            </a:pPr>
            <a:r>
              <a:t>PRESCRIPTIVE INTERVENTIONS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Calibri"/>
              </a:defRPr>
            </a:pPr>
            <a:r>
              <a:t>Closing the Loop: Faculty Intervention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BD5E1"/>
                </a:solidFill>
                <a:latin typeface="Calibri"/>
              </a:defRPr>
            </a:pPr>
            <a:r>
              <a:t>Transforms analytical predictions into immediate, accountable human actions.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429000" cy="2926080"/>
          </a:xfrm>
          <a:prstGeom prst="roundRect">
            <a:avLst/>
          </a:prstGeom>
          <a:solidFill>
            <a:srgbClr val="192440"/>
          </a:solidFill>
          <a:ln w="22225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30632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</a:defRPr>
            </a:pPr>
            <a:r>
              <a:t>Step 1: Automated Nudges</a:t>
            </a:r>
          </a:p>
          <a:p>
            <a:pPr>
              <a:defRPr sz="1300" b="1">
                <a:solidFill>
                  <a:srgbClr val="38BDF8"/>
                </a:solidFill>
              </a:defRPr>
            </a:pPr>
            <a:r>
              <a:t>Contextual Outbound Alerts</a:t>
            </a:r>
          </a:p>
          <a:p>
            <a:pPr>
              <a:defRPr sz="1200">
                <a:solidFill>
                  <a:srgbClr val="F1F5F9"/>
                </a:solidFill>
              </a:defRPr>
            </a:pPr>
            <a:r>
              <a:t>Dispatches non-punitive SMS, Email, and WhatsApp reminders for pending assignment deadlines and attendance recovery with zero faculty overhead.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920240"/>
            <a:ext cx="3429000" cy="2926080"/>
          </a:xfrm>
          <a:prstGeom prst="roundRect">
            <a:avLst/>
          </a:prstGeom>
          <a:solidFill>
            <a:srgbClr val="192440"/>
          </a:solidFill>
          <a:ln w="22225">
            <a:solidFill>
              <a:srgbClr val="A5B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2057400"/>
            <a:ext cx="30632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</a:defRPr>
            </a:pPr>
            <a:r>
              <a:t>Step 2: Mentor Assignment</a:t>
            </a:r>
          </a:p>
          <a:p>
            <a:pPr>
              <a:defRPr sz="1300" b="1">
                <a:solidFill>
                  <a:srgbClr val="A5B4FC"/>
                </a:solidFill>
              </a:defRPr>
            </a:pPr>
            <a:r>
              <a:t>1-Click Case Routing</a:t>
            </a:r>
          </a:p>
          <a:p>
            <a:pPr>
              <a:defRPr sz="1200">
                <a:solidFill>
                  <a:srgbClr val="F1F5F9"/>
                </a:solidFill>
              </a:defRPr>
            </a:pPr>
            <a:r>
              <a:t>Routes at-risk student dossiers directly to designated departmental faculty mentors (e.g. Prof. Ananya Sen) with complete academic telemetry and history.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80" y="1920240"/>
            <a:ext cx="3429000" cy="2926080"/>
          </a:xfrm>
          <a:prstGeom prst="roundRect">
            <a:avLst/>
          </a:prstGeom>
          <a:solidFill>
            <a:srgbClr val="192440"/>
          </a:solidFill>
          <a:ln w="22225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60" y="2057400"/>
            <a:ext cx="30632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</a:defRPr>
            </a:pPr>
            <a:r>
              <a:t>Step 3: Lifecycle Tracking</a:t>
            </a:r>
          </a:p>
          <a:p>
            <a:pPr>
              <a:defRPr sz="1300" b="1">
                <a:solidFill>
                  <a:srgbClr val="34D399"/>
                </a:solidFill>
              </a:defRPr>
            </a:pPr>
            <a:r>
              <a:t>Accountability &amp; Audits</a:t>
            </a:r>
          </a:p>
          <a:p>
            <a:pPr>
              <a:defRPr sz="1200">
                <a:solidFill>
                  <a:srgbClr val="F1F5F9"/>
                </a:solidFill>
              </a:defRPr>
            </a:pPr>
            <a:r>
              <a:t>Tracks intervention progress through 4 verified milestones: Identified ➔ Assigned ➔ In Progress ➔ Successfully Resolved. Full FERPA logging.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120640"/>
            <a:ext cx="10698480" cy="1051560"/>
          </a:xfrm>
          <a:prstGeom prst="roundRect">
            <a:avLst/>
          </a:prstGeom>
          <a:solidFill>
            <a:srgbClr val="192440"/>
          </a:solidFill>
          <a:ln w="22225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212080"/>
            <a:ext cx="10332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50">
                <a:solidFill>
                  <a:srgbClr val="38BDF8"/>
                </a:solidFill>
              </a:defRPr>
            </a:pPr>
            <a:r>
              <a:t>INSTITUTIONAL ACCOUNTABILITY &amp; ZERO DROPPED CASES: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Every counseling interaction records mentor notes, agreed milestone targets, and scheduled follow-ups. Deans can monitor intervention resolution rates across departments in real time.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Calibri"/>
              </a:defRPr>
            </a:pPr>
            <a:r>
              <a:t>ETHICAL AI &amp; STUDENT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Calibri"/>
              </a:defRPr>
            </a:pPr>
            <a:r>
              <a:t>Student Wellness Hub: Destigmatizing Academic Risk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BD5E1"/>
                </a:solidFill>
                <a:latin typeface="Calibri"/>
              </a:defRPr>
            </a:pPr>
            <a:r>
              <a:t>Empathetic, strength-based student interface eliminating punitive surveillance stigma.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5212080" cy="4297680"/>
          </a:xfrm>
          <a:prstGeom prst="roundRect">
            <a:avLst/>
          </a:prstGeom>
          <a:solidFill>
            <a:srgbClr val="192440"/>
          </a:solidFill>
          <a:ln w="22225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FFFFFF"/>
                </a:solidFill>
              </a:defRPr>
            </a:pPr>
            <a:r>
              <a:t>Supportive Framing vs. Punitive Alerts</a:t>
            </a:r>
          </a:p>
          <a:p>
            <a:br/>
            <a:pPr>
              <a:defRPr b="1" sz="1200">
                <a:solidFill>
                  <a:srgbClr val="FB7185"/>
                </a:solidFill>
              </a:defRPr>
            </a:pPr>
            <a:r>
              <a:t>TRADITIONAL PUNITIVE APPROACH (DISCOURAGING):</a:t>
            </a:r>
          </a:p>
          <a:p>
            <a:pPr>
              <a:defRPr sz="1200" i="1">
                <a:solidFill>
                  <a:srgbClr val="F1F5F9"/>
                </a:solidFill>
              </a:defRPr>
            </a:pPr>
            <a:r>
              <a:t>"Warning: You are flagged with an 80% Dropout Probability. Immediate academic probation hearing scheduled."</a:t>
            </a:r>
          </a:p>
          <a:p>
            <a:br/>
            <a:pPr>
              <a:defRPr b="1" sz="1200">
                <a:solidFill>
                  <a:srgbClr val="34D399"/>
                </a:solidFill>
              </a:defRPr>
            </a:pPr>
            <a:r>
              <a:t>DROPOUTGUARD WELLNESS HUB (EMPATHETIC):</a:t>
            </a:r>
          </a:p>
          <a:p>
            <a:pPr>
              <a:defRPr sz="1200" i="1">
                <a:solidFill>
                  <a:srgbClr val="FFFFFF"/>
                </a:solidFill>
              </a:defRPr>
            </a:pPr>
            <a:r>
              <a:t>"Welcome back, Aarav! You are making solid progress in Semester 4. Connect with your advisor to boost your exam prep roadmap."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920240"/>
            <a:ext cx="5212080" cy="4297680"/>
          </a:xfrm>
          <a:prstGeom prst="roundRect">
            <a:avLst/>
          </a:prstGeom>
          <a:solidFill>
            <a:srgbClr val="192440"/>
          </a:solidFill>
          <a:ln w="22225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10312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FFFFFF"/>
                </a:solidFill>
              </a:defRPr>
            </a:pPr>
            <a:r>
              <a:t>Student Self-Service Tools</a:t>
            </a:r>
          </a:p>
          <a:p>
            <a:br/>
            <a:pPr>
              <a:defRPr b="1" sz="1300">
                <a:solidFill>
                  <a:srgbClr val="34D399"/>
                </a:solidFill>
              </a:defRPr>
            </a:pPr>
            <a:r>
              <a:t>✓ 1-Click Faculty Advisor Connect</a:t>
            </a:r>
          </a:p>
          <a:p>
            <a:pPr>
              <a:defRPr sz="1150">
                <a:solidFill>
                  <a:srgbClr val="F1F5F9"/>
                </a:solidFill>
              </a:defRPr>
            </a:pPr>
            <a:r>
              <a:t>Students can request guidance meetings directly with their mentor without bureaucratic delays.</a:t>
            </a:r>
          </a:p>
          <a:p>
            <a:br/>
            <a:pPr>
              <a:defRPr b="1" sz="1300">
                <a:solidFill>
                  <a:srgbClr val="38BDF8"/>
                </a:solidFill>
              </a:defRPr>
            </a:pPr>
            <a:r>
              <a:t>✓ Curated Supplementary Resources</a:t>
            </a:r>
          </a:p>
          <a:p>
            <a:pPr>
              <a:defRPr sz="1150">
                <a:solidFill>
                  <a:srgbClr val="F1F5F9"/>
                </a:solidFill>
              </a:defRPr>
            </a:pPr>
            <a:r>
              <a:t>AI-recommended lecture notes, previous year question papers, and backlog clearance modules.</a:t>
            </a:r>
          </a:p>
          <a:p>
            <a:br/>
            <a:pPr>
              <a:defRPr b="1" sz="1300">
                <a:solidFill>
                  <a:srgbClr val="A5B4FC"/>
                </a:solidFill>
              </a:defRPr>
            </a:pPr>
            <a:r>
              <a:t>✓ Transparent Milestones Tracker</a:t>
            </a:r>
          </a:p>
          <a:p>
            <a:pPr>
              <a:defRPr sz="1150">
                <a:solidFill>
                  <a:srgbClr val="F1F5F9"/>
                </a:solidFill>
              </a:defRPr>
            </a:pPr>
            <a:r>
              <a:t>Tracks upcoming deadlines and attendance targets in a motivating, non-stressful UI.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Calibri"/>
              </a:defRPr>
            </a:pPr>
            <a:r>
              <a:t>ENTERPRISE READINESS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Calibri"/>
              </a:defRPr>
            </a:pPr>
            <a:r>
              <a:t>LTI 1.3 LMS Integration &amp; FERPA Compliance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BD5E1"/>
                </a:solidFill>
                <a:latin typeface="Calibri"/>
              </a:defRPr>
            </a:pPr>
            <a:r>
              <a:t>Turnkey enterprise compatibility with university Learning Management Systems.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429000" cy="2926080"/>
          </a:xfrm>
          <a:prstGeom prst="roundRect">
            <a:avLst/>
          </a:prstGeom>
          <a:solidFill>
            <a:srgbClr val="192440"/>
          </a:solidFill>
          <a:ln w="22225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30632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Canvas LMS</a:t>
            </a:r>
          </a:p>
          <a:p>
            <a:pPr>
              <a:defRPr sz="1300" b="1">
                <a:solidFill>
                  <a:srgbClr val="FB7185"/>
                </a:solidFill>
              </a:defRPr>
            </a:pPr>
            <a:r>
              <a:t>LTI 1.3 Advantage</a:t>
            </a:r>
          </a:p>
          <a:p>
            <a:pPr>
              <a:defRPr sz="1200">
                <a:solidFill>
                  <a:srgbClr val="F1F5F9"/>
                </a:solidFill>
              </a:defRPr>
            </a:pPr>
            <a:r>
              <a:t>Syncs course enrollments, gradebook submissions, assignment deadlines, and student engagement telemetry via Canvas GraphQL API.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920240"/>
            <a:ext cx="3429000" cy="2926080"/>
          </a:xfrm>
          <a:prstGeom prst="roundRect">
            <a:avLst/>
          </a:prstGeom>
          <a:solidFill>
            <a:srgbClr val="192440"/>
          </a:solidFill>
          <a:ln w="22225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2057400"/>
            <a:ext cx="30632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Blackboard Learn</a:t>
            </a:r>
          </a:p>
          <a:p>
            <a:pPr>
              <a:defRPr sz="1300" b="1">
                <a:solidFill>
                  <a:srgbClr val="FBBF24"/>
                </a:solidFill>
              </a:defRPr>
            </a:pPr>
            <a:r>
              <a:t>REST API Telemetry</a:t>
            </a:r>
          </a:p>
          <a:p>
            <a:pPr>
              <a:defRPr sz="1200">
                <a:solidFill>
                  <a:srgbClr val="F1F5F9"/>
                </a:solidFill>
              </a:defRPr>
            </a:pPr>
            <a:r>
              <a:t>Ingests assignment submission velocity and discussion board activity to capture early student disengagement cues.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80" y="1920240"/>
            <a:ext cx="3429000" cy="2926080"/>
          </a:xfrm>
          <a:prstGeom prst="roundRect">
            <a:avLst/>
          </a:prstGeom>
          <a:solidFill>
            <a:srgbClr val="192440"/>
          </a:solidFill>
          <a:ln w="22225">
            <a:solidFill>
              <a:srgbClr val="A5B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60" y="2057400"/>
            <a:ext cx="30632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Moodle Open Source</a:t>
            </a:r>
          </a:p>
          <a:p>
            <a:pPr>
              <a:defRPr sz="1300" b="1">
                <a:solidFill>
                  <a:srgbClr val="A5B4FC"/>
                </a:solidFill>
              </a:defRPr>
            </a:pPr>
            <a:r>
              <a:t>OAuth 2.0 Standard</a:t>
            </a:r>
          </a:p>
          <a:p>
            <a:pPr>
              <a:defRPr sz="1200">
                <a:solidFill>
                  <a:srgbClr val="F1F5F9"/>
                </a:solidFill>
              </a:defRPr>
            </a:pPr>
            <a:r>
              <a:t>Full support for public university deployments with secure token exchange and zero proprietary vendor lock-in.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120640"/>
            <a:ext cx="10698480" cy="1051560"/>
          </a:xfrm>
          <a:prstGeom prst="roundRect">
            <a:avLst/>
          </a:prstGeom>
          <a:solidFill>
            <a:srgbClr val="192440"/>
          </a:solidFill>
          <a:ln w="22225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212080"/>
            <a:ext cx="10332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50">
                <a:solidFill>
                  <a:srgbClr val="34D399"/>
                </a:solidFill>
              </a:defRPr>
            </a:pPr>
            <a:r>
              <a:t>FERPA &amp; GDPR COMPLIANCE GUARDRAILS: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Role-Based Access Control (RBAC) • Strict Data Anonymization • One-click Audit Pack Export for university accreditation compliance.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Calibri"/>
              </a:defRPr>
            </a:pPr>
            <a:r>
              <a:t>BUSINESS MODEL &amp; ROI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Calibri"/>
              </a:defRPr>
            </a:pPr>
            <a:r>
              <a:t>Institutional Impact &amp; Financial Return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BD5E1"/>
                </a:solidFill>
                <a:latin typeface="Calibri"/>
              </a:defRPr>
            </a:pPr>
            <a:r>
              <a:t>Quantifiable tuition preservation and student success outcomes.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429000" cy="2926080"/>
          </a:xfrm>
          <a:prstGeom prst="roundRect">
            <a:avLst/>
          </a:prstGeom>
          <a:solidFill>
            <a:srgbClr val="192440"/>
          </a:solidFill>
          <a:ln w="22225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30632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34D399"/>
                </a:solidFill>
              </a:defRPr>
            </a:pPr>
            <a:r>
              <a:t>$3.6M+</a:t>
            </a:r>
          </a:p>
          <a:p>
            <a:pPr>
              <a:defRPr sz="1500" b="1">
                <a:solidFill>
                  <a:srgbClr val="FFFFFF"/>
                </a:solidFill>
              </a:defRPr>
            </a:pPr>
            <a:r>
              <a:t>Tuition Preserved / Cohort</a:t>
            </a:r>
          </a:p>
          <a:p>
            <a:pPr>
              <a:defRPr sz="1200">
                <a:solidFill>
                  <a:srgbClr val="F1F5F9"/>
                </a:solidFill>
              </a:defRPr>
            </a:pPr>
            <a:r>
              <a:t>Calculated on a conservative 15% retention improvement across 3,000 at-risk students in a typical 10,000-student university.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920240"/>
            <a:ext cx="3429000" cy="2926080"/>
          </a:xfrm>
          <a:prstGeom prst="roundRect">
            <a:avLst/>
          </a:prstGeom>
          <a:solidFill>
            <a:srgbClr val="192440"/>
          </a:solidFill>
          <a:ln w="22225">
            <a:solidFill>
              <a:srgbClr val="A5B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2057400"/>
            <a:ext cx="30632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A5B4FC"/>
                </a:solidFill>
              </a:defRPr>
            </a:pPr>
            <a:r>
              <a:t>450+</a:t>
            </a:r>
          </a:p>
          <a:p>
            <a:pPr>
              <a:defRPr sz="1500" b="1">
                <a:solidFill>
                  <a:srgbClr val="FFFFFF"/>
                </a:solidFill>
              </a:defRPr>
            </a:pPr>
            <a:r>
              <a:t>Graduates Saved From Dropout</a:t>
            </a:r>
          </a:p>
          <a:p>
            <a:pPr>
              <a:defRPr sz="1200">
                <a:solidFill>
                  <a:srgbClr val="F1F5F9"/>
                </a:solidFill>
              </a:defRPr>
            </a:pPr>
            <a:r>
              <a:t>More alumni entering the workforce, improving institutional national rankings, alumni giving, and state performance funding.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80" y="1920240"/>
            <a:ext cx="3429000" cy="2926080"/>
          </a:xfrm>
          <a:prstGeom prst="roundRect">
            <a:avLst/>
          </a:prstGeom>
          <a:solidFill>
            <a:srgbClr val="192440"/>
          </a:solidFill>
          <a:ln w="22225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60" y="2057400"/>
            <a:ext cx="30632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38BDF8"/>
                </a:solidFill>
              </a:defRPr>
            </a:pPr>
            <a:r>
              <a:t>10x ROI</a:t>
            </a:r>
          </a:p>
          <a:p>
            <a:pPr>
              <a:defRPr sz="1500" b="1">
                <a:solidFill>
                  <a:srgbClr val="FFFFFF"/>
                </a:solidFill>
              </a:defRPr>
            </a:pPr>
            <a:r>
              <a:t>Enterprise Value Proposition</a:t>
            </a:r>
          </a:p>
          <a:p>
            <a:pPr>
              <a:defRPr sz="1200">
                <a:solidFill>
                  <a:srgbClr val="F1F5F9"/>
                </a:solidFill>
              </a:defRPr>
            </a:pPr>
            <a:r>
              <a:t>SaaS platform licensing pays for itself within the very first semester by preventing just 3 to 5 student dropouts.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120640"/>
            <a:ext cx="10698480" cy="1051560"/>
          </a:xfrm>
          <a:prstGeom prst="roundRect">
            <a:avLst/>
          </a:prstGeom>
          <a:solidFill>
            <a:srgbClr val="192440"/>
          </a:solidFill>
          <a:ln w="22225">
            <a:solidFill>
              <a:srgbClr val="A5B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212080"/>
            <a:ext cx="10332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50">
                <a:solidFill>
                  <a:srgbClr val="A5B4FC"/>
                </a:solidFill>
              </a:defRPr>
            </a:pPr>
            <a:r>
              <a:t>TARGET MARKET ROLLOUT ROADMAP: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Phase 1: Higher Education STEM &amp; Computing programs with high attrition rates.</a:t>
            </a:r>
            <a:br/>
            <a:r>
              <a:t>• Phase 2: State university systems and community college networks requiring performance-based funding compliance.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Calibri"/>
              </a:defRPr>
            </a:pPr>
            <a:r>
              <a:t>TECHNICAL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Calibri"/>
              </a:defRPr>
            </a:pPr>
            <a:r>
              <a:t>Production Engineering &amp; System Resilience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BD5E1"/>
                </a:solidFill>
                <a:latin typeface="Calibri"/>
              </a:defRPr>
            </a:pPr>
            <a:r>
              <a:t>Built for zero-downtime performance, accessibility, and responsiveness.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5212080" cy="4297680"/>
          </a:xfrm>
          <a:prstGeom prst="roundRect">
            <a:avLst/>
          </a:prstGeom>
          <a:solidFill>
            <a:srgbClr val="192440"/>
          </a:solidFill>
          <a:ln w="22225">
            <a:solidFill>
              <a:srgbClr val="3C5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FFFFFF"/>
                </a:solidFill>
              </a:defRPr>
            </a:pPr>
            <a:r>
              <a:t>Full-Stack Architecture</a:t>
            </a:r>
          </a:p>
          <a:p>
            <a:br/>
            <a:pPr>
              <a:defRPr sz="1200">
                <a:solidFill>
                  <a:srgbClr val="F1F5F9"/>
                </a:solidFill>
              </a:defRPr>
            </a:pPr>
            <a:r>
              <a:t>⚛️ Frontend: React 18, TypeScript, Vite, Tailwind CSS, Lucide Icons</a:t>
            </a:r>
          </a:p>
          <a:p>
            <a:br/>
            <a:pPr>
              <a:defRPr sz="1200">
                <a:solidFill>
                  <a:srgbClr val="F1F5F9"/>
                </a:solidFill>
              </a:defRPr>
            </a:pPr>
            <a:r>
              <a:t>📊 Data Visualizations: Recharts Suite (Pie, Scatter, Bar, Line)</a:t>
            </a:r>
          </a:p>
          <a:p>
            <a:br/>
            <a:pPr>
              <a:defRPr sz="1200">
                <a:solidFill>
                  <a:srgbClr val="F1F5F9"/>
                </a:solidFill>
              </a:defRPr>
            </a:pPr>
            <a:r>
              <a:t>⚙️ Backend API: Node.js Express REST API microservices</a:t>
            </a:r>
          </a:p>
          <a:p>
            <a:br/>
            <a:pPr>
              <a:defRPr sz="1200">
                <a:solidFill>
                  <a:srgbClr val="F1F5F9"/>
                </a:solidFill>
              </a:defRPr>
            </a:pPr>
            <a:r>
              <a:t>🧠 Machine Learning: Python Scikit-Learn &amp; NumPy inference engine</a:t>
            </a:r>
          </a:p>
          <a:p>
            <a:br/>
            <a:pPr>
              <a:defRPr sz="1200">
                <a:solidFill>
                  <a:srgbClr val="F1F5F9"/>
                </a:solidFill>
              </a:defRPr>
            </a:pPr>
            <a:r>
              <a:t>📄 Export Engines: Vector PDF Dossiers &amp; Excel UTF-8 CSV exports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920240"/>
            <a:ext cx="5212080" cy="4297680"/>
          </a:xfrm>
          <a:prstGeom prst="roundRect">
            <a:avLst/>
          </a:prstGeom>
          <a:solidFill>
            <a:srgbClr val="192440"/>
          </a:solidFill>
          <a:ln w="22225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10312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FFFFFF"/>
                </a:solidFill>
              </a:defRPr>
            </a:pPr>
            <a:r>
              <a:t>Hackathon Judge Fault Tolerance</a:t>
            </a:r>
          </a:p>
          <a:p>
            <a:br/>
            <a:pPr>
              <a:defRPr b="1" sz="1300">
                <a:solidFill>
                  <a:srgbClr val="34D399"/>
                </a:solidFill>
              </a:defRPr>
            </a:pPr>
            <a:r>
              <a:t>✓ Offline-First Resilience</a:t>
            </a:r>
          </a:p>
          <a:p>
            <a:pPr>
              <a:defRPr sz="1150">
                <a:solidFill>
                  <a:srgbClr val="F1F5F9"/>
                </a:solidFill>
              </a:defRPr>
            </a:pPr>
            <a:r>
              <a:t>Calibrated cohort telemetry guarantees visualizations and simulations never stall or crash during free-tier cloud cold starts.</a:t>
            </a:r>
          </a:p>
          <a:p>
            <a:br/>
            <a:pPr>
              <a:defRPr b="1" sz="1300">
                <a:solidFill>
                  <a:srgbClr val="34D399"/>
                </a:solidFill>
              </a:defRPr>
            </a:pPr>
            <a:r>
              <a:t>✓ WCAG AA Theme Switcher</a:t>
            </a:r>
          </a:p>
          <a:p>
            <a:pPr>
              <a:defRPr sz="1150">
                <a:solidFill>
                  <a:srgbClr val="F1F5F9"/>
                </a:solidFill>
              </a:defRPr>
            </a:pPr>
            <a:r>
              <a:t>High-contrast Dark &amp; Light mode toggle with verified non-transparent text and borders.</a:t>
            </a:r>
          </a:p>
          <a:p>
            <a:br/>
            <a:pPr>
              <a:defRPr b="1" sz="1300">
                <a:solidFill>
                  <a:srgbClr val="34D399"/>
                </a:solidFill>
              </a:defRPr>
            </a:pPr>
            <a:r>
              <a:t>✓ 1-Click Demo Personas</a:t>
            </a:r>
          </a:p>
          <a:p>
            <a:pPr>
              <a:defRPr sz="1150">
                <a:solidFill>
                  <a:srgbClr val="F1F5F9"/>
                </a:solidFill>
              </a:defRPr>
            </a:pPr>
            <a:r>
              <a:t>Instant access as Dean Dr. Aris Thorne, Prof. Ananya Sen, or Student Aarav Sharma without passwords.</a:t>
            </a:r>
          </a:p>
          <a:p>
            <a:br/>
            <a:pPr>
              <a:defRPr b="1" sz="1300">
                <a:solidFill>
                  <a:srgbClr val="34D399"/>
                </a:solidFill>
              </a:defRPr>
            </a:pPr>
            <a:r>
              <a:t>✓ Mobile Responsive</a:t>
            </a:r>
          </a:p>
          <a:p>
            <a:pPr>
              <a:defRPr sz="1150">
                <a:solidFill>
                  <a:srgbClr val="F1F5F9"/>
                </a:solidFill>
              </a:defRPr>
            </a:pPr>
            <a:r>
              <a:t>Horizontal swipe cues and touch-friendly controls across all screen sizes.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Calibri"/>
              </a:defRPr>
            </a:pPr>
            <a:r>
              <a:t>SUMMARY &amp;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Calibri"/>
              </a:defRPr>
            </a:pPr>
            <a:r>
              <a:t>Empowering Institutions to Protect Student Futures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BD5E1"/>
                </a:solidFill>
                <a:latin typeface="Calibri"/>
              </a:defRPr>
            </a:pPr>
            <a:r>
              <a:t>Ready for institutional pilot deployment and immediate evaluation.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5212080" cy="4297680"/>
          </a:xfrm>
          <a:prstGeom prst="roundRect">
            <a:avLst/>
          </a:prstGeom>
          <a:solidFill>
            <a:srgbClr val="192440"/>
          </a:solidFill>
          <a:ln w="22225">
            <a:solidFill>
              <a:srgbClr val="A5B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FFFFFF"/>
                </a:solidFill>
              </a:defRPr>
            </a:pPr>
            <a:r>
              <a:t>Evaluation Resources</a:t>
            </a:r>
          </a:p>
          <a:p>
            <a:br/>
            <a:pPr>
              <a:defRPr b="1" sz="1250">
                <a:solidFill>
                  <a:srgbClr val="38BDF8"/>
                </a:solidFill>
              </a:defRPr>
            </a:pPr>
            <a:r>
              <a:t>Live Web Application:</a:t>
            </a:r>
          </a:p>
          <a:p>
            <a:pPr>
              <a:defRPr sz="1150">
                <a:solidFill>
                  <a:srgbClr val="FFFFFF"/>
                </a:solidFill>
              </a:defRPr>
            </a:pPr>
            <a:r>
              <a:t>Deployed Live on Render (Production Build)</a:t>
            </a:r>
          </a:p>
          <a:p>
            <a:br/>
            <a:pPr>
              <a:defRPr b="1" sz="1250">
                <a:solidFill>
                  <a:srgbClr val="38BDF8"/>
                </a:solidFill>
              </a:defRPr>
            </a:pPr>
            <a:r>
              <a:t>GitHub Repository:</a:t>
            </a:r>
          </a:p>
          <a:p>
            <a:pPr>
              <a:defRPr sz="1150">
                <a:solidFill>
                  <a:srgbClr val="FFFFFF"/>
                </a:solidFill>
              </a:defRPr>
            </a:pPr>
            <a:r>
              <a:t>https://github.com/Swas00/DropoutGuard-AI</a:t>
            </a:r>
          </a:p>
          <a:p>
            <a:br/>
            <a:pPr>
              <a:defRPr b="1" sz="1250">
                <a:solidFill>
                  <a:srgbClr val="38BDF8"/>
                </a:solidFill>
              </a:defRPr>
            </a:pPr>
            <a:r>
              <a:t>1-Click Demo Personas:</a:t>
            </a:r>
          </a:p>
          <a:p>
            <a:pPr>
              <a:defRPr sz="1150">
                <a:solidFill>
                  <a:srgbClr val="FFFFFF"/>
                </a:solidFill>
              </a:defRPr>
            </a:pPr>
            <a:r>
              <a:t>Dean Dr. Aris Thorne • Prof. Ananya Sen • Student Aarav Sharma</a:t>
            </a:r>
          </a:p>
          <a:p>
            <a:br/>
            <a:pPr>
              <a:defRPr b="1" sz="1250">
                <a:solidFill>
                  <a:srgbClr val="38BDF8"/>
                </a:solidFill>
              </a:defRPr>
            </a:pPr>
            <a:r>
              <a:t>Interactive Deck Link:</a:t>
            </a:r>
          </a:p>
          <a:p>
            <a:pPr>
              <a:defRPr sz="1150">
                <a:solidFill>
                  <a:srgbClr val="FFFFFF"/>
                </a:solidFill>
              </a:defRPr>
            </a:pPr>
            <a:r>
              <a:t>https://&lt;your-render-url&gt;/presentation.html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920240"/>
            <a:ext cx="5212080" cy="4297680"/>
          </a:xfrm>
          <a:prstGeom prst="roundRect">
            <a:avLst/>
          </a:prstGeom>
          <a:solidFill>
            <a:srgbClr val="192440"/>
          </a:solidFill>
          <a:ln w="22225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560320"/>
            <a:ext cx="48463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/>
            </a:pPr>
            <a:r>
              <a:t>🎓</a:t>
            </a:r>
          </a:p>
          <a:p>
            <a:pPr>
              <a:defRPr b="1" sz="2800">
                <a:solidFill>
                  <a:srgbClr val="FFFFFF"/>
                </a:solidFill>
              </a:defRPr>
            </a:pPr>
            <a:r>
              <a:t>Thank You, Evaluators!</a:t>
            </a:r>
          </a:p>
          <a:p>
            <a:br/>
            <a:pPr>
              <a:defRPr sz="1400">
                <a:solidFill>
                  <a:srgbClr val="F1F5F9"/>
                </a:solidFill>
              </a:defRPr>
            </a:pPr>
            <a:r>
              <a:t>DropoutGuard AI transforms dropout prevention from an autopsy into proactive, life-changing interventions.</a:t>
            </a:r>
          </a:p>
          <a:p>
            <a:br/>
            <a:pPr>
              <a:defRPr b="1" sz="1300">
                <a:solidFill>
                  <a:srgbClr val="34D399"/>
                </a:solidFill>
              </a:defRPr>
            </a:pPr>
            <a:r>
              <a:t>READY FOR JUDGE Q&amp;A &amp; LIVE DEMONSTRATION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