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evaluators. Today we present DropoutGuard AI: an explainable early-warning intelligence platform that predicts higher education student dropout 6 to 8 weeks before academic failure occurs. In this presentation, we will walk you through the institutional crisis, our machine learning architecture, our interactive What-If sensitivity simulator, and our enterprise LMS connectors.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 30% of undergraduate students drop out globally, costing universities more than $4.2 billion in lost tuition and state funding every year. But the critical flaw today is that detection is retrospective. Counselors only find out after a student has failed their finals or dropped off the enrollment registry—when it is already too late to intervene.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DropoutGuard AI transforms student retention from an autopsy into an early-warning radar. We don't just output an opaque probability score; we explain the exact root causes using SHAP values and provide immediate, accountable intervention tools for deans, mentors, and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Unlike projects trained on toy synthetic data, our engine is validated on the gold-standard UCI benchmark of 4,424 student academic records. Our Random Forest ensemble achieves a 0.925 ROC-AUC with an 87.4% recall on critically at-risk students—ensuring no vulnerable student slips through the cracks.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explainability in action for benchmark student Kavya Sharma. She has an alarming 78% risk score. But our system doesn't just hand the Dean a scary number. It produces a complete diagnostic dossier showing that her two active backlogs contribute 40.5% of her risk, compounded by a negative 0.9 GPA drop and 58% attendance. Every prediction is mathematically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flagship innovation is the real-time What-If Sensitivity Simulator. Advisors can test hypothetical interventions dynamically. If a mentor helps Kavya raise her attendance to 75% and complete 85% of assignments, her risk drops by 50 percentage points down to 28%. This proves the intervention's viability before scheduling counseling.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Prediction without prescription is useless. DropoutGuard AI closes the loop: faculty advisors can dispatch supportive automated nudges, assign dedicated mentors, and track the student across a complete intervention lifecycle with zero administrative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critical ethical dimension of EdTech is student mental health. In DropoutGuard AI, students never see a scary 'High Dropout Risk' banner. Our Student Wellness Hub flips the framing to positive, strength-based coaching: celebrating milestones and providing a single click to connect with a mentor.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Universities always ask: 'How will this fit into our existing systems?' We built DropoutGuard AI on the open LTI 1.3 standard. It connects out-of-the-box with Canvas, Blackboard, and Moodle, with bidirectional webhooks and FERPA-compliant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return on investment? For an average 10,000-student university, retaining just 15% more of the students at risk saves 450 students and preserves over $3.6 million in tuition revenue over a 4-year cycle. The software pays for itself in the first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is engineered for production reliability. The entire frontend features high-contrast dark and light modes, and our offline-first architecture ensures that even on free-tier cloud cold starts, visualizations and simulations load instantaneously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DropoutGuard AI bridges the gap between predictive AI research and real-world student success. Thank you, evaluators, and we would love to answer your questions or demonstrate any feature live right now!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HACKATHON 2026 SUBMISSION • EVALUATOR PRESENTATION</a:t>
            </a:r>
          </a:p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DropoutGuard AI</a:t>
            </a:r>
          </a:p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Explainable Predictive Intelligence &amp; Early Intervention Platform for Higher Education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24688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366F1"/>
                </a:solidFill>
                <a:latin typeface="Calibri"/>
              </a:defRPr>
            </a:pPr>
            <a:r>
              <a:t>0.925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ROC-AUC Score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Trained on UCI Benchmark</a:t>
            </a:r>
            <a:br/>
            <a:r>
              <a:t>(4,424 student records, 35 features)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291840"/>
            <a:ext cx="24688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Calibri"/>
              </a:defRPr>
            </a:pPr>
            <a:r>
              <a:t>6-8 Wks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Early Warning Window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Identifies downward trajectory</a:t>
            </a:r>
            <a:br/>
            <a:r>
              <a:t>weeks before semester exams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24688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Calibri"/>
              </a:defRPr>
            </a:pPr>
            <a:r>
              <a:t>SHAP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Explainable AI (XAI)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Zero black-boxes with precise</a:t>
            </a:r>
            <a:br/>
            <a:r>
              <a:t>feature weight attributions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3291840"/>
            <a:ext cx="2468880" cy="219456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Calibri"/>
              </a:defRPr>
            </a:pPr>
            <a:r>
              <a:t>LTI 1.3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Universal LMS Connectors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Pre-configured live sync with</a:t>
            </a:r>
            <a:br/>
            <a:r>
              <a:t>Canvas, Blackboard, &amp; Moodle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Deployed Production Web App on Render • 100% Offline-First Resilient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THE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$4.2 Billion Higher Education Attrition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Traditional institutional detection is retrospective, siloed, and too late to prevent dropouts.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3F5E"/>
                </a:solidFill>
              </a:defRPr>
            </a:pPr>
            <a:r>
              <a:t>32.9%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Global Dropout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Nearly 1 in 3 college undergraduates drop out before completing their degree, severely capping their career trajectory and socioeconomic mobility.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3F5E"/>
                </a:solidFill>
              </a:defRPr>
            </a:pPr>
            <a:r>
              <a:t>Post-Mortem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Retrospective Detection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Universities identify student failure only after semester finals or academic probation notices are issued—when remediation is already too 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43F5E"/>
                </a:solidFill>
              </a:defRPr>
            </a:pPr>
            <a:r>
              <a:t>Siloed Data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Fragmented Intelligence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Attendance logs, LMS submissions, internal test marks, and fees compliance sit in disconnected systems with no unified risk intelligence.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43F5E"/>
                </a:solidFill>
              </a:defRPr>
            </a:pPr>
            <a:r>
              <a:t>The Institutional Blind Spot: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By week 4, when a student begins skipping classes and missing assignments, faculty members receive zero automated alerts. By the time grades arrive, the student has already disengaged.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THE DROPOUTGUARD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Solution: Early Warning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Transforming student retention from a post-mortem autopsy into proactive, prescriptive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🛡️ Early Warning Radar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Weeks 4–6 Inflection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Synthesizes attendance decay, GPA trend velocity, and LMS engagement early in the semester to catch dropouts 6 to 8 weeks before final examinations occur.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🔍 Explainable AI (XAI)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Zero Black Boxes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Leverages SHAP feature attributions so advisors know exactly why a student is flagged (e.g. 2 course backlogs + 58% attendance) rather than guessing from an opaque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Prescriptive Action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Closing the Loop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Connects risk detection directly to automated SMS/Email nudges, 1-click faculty mentor routing, and an empathetic, supportive Student Wellness Hub.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Built for Every Campus Stakeholder with 1-Click Persona Switching: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University Dean (Cohort Analytics &amp; Risk Velocity) • Faculty Mentor (Case Dossier &amp; What-If Simulator) • Student (Supportive Wellness Hub &amp; Advisor Connect)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SCIENTIFIC &amp; ML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Machine Learning Rigor &amp; Empirical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Validated on the gold-standard UCI Higher Education Benchmark (4,424 verified trajectories).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MODEL BENCHMARK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56032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1E29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Random Forest (Ours)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0.925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0.868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Gradient Boosting (XGB)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0.852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0.812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73.8%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0.761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Support Vector Classifier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0.825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75.2%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0.774</a:t>
                      </a:r>
                    </a:p>
                  </a:txBody>
                  <a:tcPr>
                    <a:solidFill>
                      <a:srgbClr val="121A2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14400" y="5120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Dataset Characteristics: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4,424 records • 35 multidimensional features (demographic, academic, socio-economic) • 80/20 train/test stratified split with 5-fold cross-validation.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6366F1"/>
                </a:solidFill>
              </a:defRPr>
            </a:pPr>
            <a:r>
              <a:t>TOP PREDICTIVE FACTORS (SHAP WEIGHTS)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F43F5E"/>
                </a:solidFill>
              </a:defRPr>
            </a:pPr>
            <a:r>
              <a:t>1. Course Backlogs / Failed Units: 40.5%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 Highest statistical correlation with dropout inflection.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2. GPA Trend Velocity (Delta): 18.7%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 Steep drop between previous and current semester.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3. Class Attendance &amp; Compliance: 16.2%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 Dips below the mandatory 65% university threshold.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4. Tuition &amp; Socio-Economic Status: 14.2%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 External financial and scholarship stability factors.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5. Assignment &amp; Lab Completion: 10.4%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 Early indicators of student disengagement in weeks 3-5.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EXPLAINABILITY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Explainable AI in Practice: Case Study STU1024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Deconstructing composite risk into human-interpretable, accountable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Student: Kavya Sharma (ID: STU1024)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B.Tech Computer Science • Semester 4</a:t>
            </a:r>
          </a:p>
          <a:p>
            <a:pPr>
              <a:defRPr b="1" sz="1400">
                <a:solidFill>
                  <a:srgbClr val="F43F5E"/>
                </a:solidFill>
              </a:defRPr>
            </a:pPr>
            <a:r>
              <a:t>PREDICTED RISK: 78% (CRITICALLY FLAGGED)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Academic Telemetry Breakdown: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Class Attendance: 58% (Mandatory threshold: 65%)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GPA Trend Velocity: -0.9 drop (Fell from 6.7 to 5.8)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Active Course Backlogs: 2 Subjects (Math III &amp; Data Structures)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Assignment Submission Rate: 50%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Internal Exam Score: 61 / 100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Prescribed Plan: Backlog clearance roadmap + immediate mentoring with Prof. Ananya Sen.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SHAP Factor Risk Contributions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percentage point is mathematically accounted for:</a:t>
            </a:r>
          </a:p>
          <a:p>
            <a:br/>
            <a:pPr>
              <a:defRPr b="1" sz="1200">
                <a:solidFill>
                  <a:srgbClr val="F43F5E"/>
                </a:solidFill>
              </a:defRPr>
            </a:pPr>
            <a:r>
              <a:t>Course Backlogs (2 subjects) ➔ +40.5%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 backlog density severely increases probability of non-completion.</a:t>
            </a:r>
          </a:p>
          <a:p>
            <a:br/>
            <a:pPr>
              <a:defRPr b="1" sz="1200">
                <a:solidFill>
                  <a:srgbClr val="F43F5E"/>
                </a:solidFill>
              </a:defRPr>
            </a:pPr>
            <a:r>
              <a:t>Negative GPA Velocity (-0.9) ➔ +18.7%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Steep drop indicates disengagement or exam difficulty.</a:t>
            </a:r>
          </a:p>
          <a:p>
            <a:br/>
            <a:pPr>
              <a:defRPr b="1" sz="1200">
                <a:solidFill>
                  <a:srgbClr val="F43F5E"/>
                </a:solidFill>
              </a:defRPr>
            </a:pPr>
            <a:r>
              <a:t>Sub-60% Attendance (58%) ➔ +16.2%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Student misses core lecture context and lab assessments.</a:t>
            </a:r>
          </a:p>
          <a:p>
            <a:br/>
            <a:pPr>
              <a:defRPr b="1" sz="1200">
                <a:solidFill>
                  <a:srgbClr val="F59E0B"/>
                </a:solidFill>
              </a:defRPr>
            </a:pPr>
            <a:r>
              <a:t>Missed Coursework (50%) ➔ +10.4%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Failure to submit lab records and continuous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CORE INNOVATION &amp;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Interactive "What-If" Sensitivity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Simulate the impact of academic interventions dynamically before executing counseling plans.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Simulated Intervention Adjustments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Faculty advisor tests corrective milestones on interactive sliders:</a:t>
            </a:r>
          </a:p>
          <a:p>
            <a:br/>
            <a:pPr>
              <a:defRPr b="1" sz="1300">
                <a:solidFill>
                  <a:srgbClr val="06B6D4"/>
                </a:solidFill>
              </a:defRPr>
            </a:pPr>
            <a:r>
              <a:t>Target Attendance: 58% ➔ 75%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+17% Recovery through faculty check-ins</a:t>
            </a:r>
          </a:p>
          <a:p>
            <a:br/>
            <a:pPr>
              <a:defRPr b="1" sz="1300">
                <a:solidFill>
                  <a:srgbClr val="6366F1"/>
                </a:solidFill>
              </a:defRPr>
            </a:pPr>
            <a:r>
              <a:t>Target Assignment Rate: 50% ➔ 85%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+35% Recovery via deadline reminders</a:t>
            </a:r>
          </a:p>
          <a:p>
            <a:br/>
            <a:pPr>
              <a:defRPr b="1" sz="1300">
                <a:solidFill>
                  <a:srgbClr val="10B981"/>
                </a:solidFill>
              </a:defRPr>
            </a:pPr>
            <a:r>
              <a:t>Target Internal Marks: 61 ➔ 72 / 100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+11 Marks with peer tutoring support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Real-Time Feedback: Immediate sensitivity recalculation via dynamic partial-derivative feature perturbation.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DYNAMIC RECALCULATION OUTCOME</a:t>
            </a:r>
          </a:p>
          <a:p>
            <a:pPr>
              <a:defRPr b="1" sz="4400">
                <a:solidFill>
                  <a:srgbClr val="10B981"/>
                </a:solidFill>
              </a:defRPr>
            </a:pPr>
            <a:r>
              <a:t>78%  ➔  28%</a:t>
            </a:r>
          </a:p>
          <a:p>
            <a:pPr>
              <a:defRPr b="1" sz="1400">
                <a:solidFill>
                  <a:srgbClr val="FFFFFF"/>
                </a:solidFill>
              </a:defRPr>
            </a:pPr>
            <a:r>
              <a:t>STATUS: LOW RISK (NOMINAL STANDING)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Total Risk Reduction: -50 Percentage Points</a:t>
            </a:r>
            <a:br/>
            <a:r>
              <a:t>• Proves that restoring attendance and assignment cadence will safely clear Kavya from danger.</a:t>
            </a:r>
            <a:br/>
            <a:r>
              <a:t>• Gives counselors concrete, motivating targets to share with the student.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PRESCRIPTIVE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Closing the Loop: Faculty Intervention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Transforms analytical predictions into immediate, accountable human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Step 1: Automated Nudges</a:t>
            </a:r>
          </a:p>
          <a:p>
            <a:pPr>
              <a:defRPr sz="1200" b="1">
                <a:solidFill>
                  <a:srgbClr val="06B6D4"/>
                </a:solidFill>
              </a:defRPr>
            </a:pPr>
            <a:r>
              <a:t>Contextual Outbound Alerts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Dispatches non-punitive SMS, Email, and WhatsApp reminders for pending assignment deadlines and attendance recovery with zero faculty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Step 2: Mentor Assignment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1-Click Case Routing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Routes at-risk student dossiers directly to designated departmental faculty mentors (e.g. Prof. Ananya Sen) with complete academic telemetry and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Step 3: Lifecycle Tracking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Accountability &amp; Audits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Tracks intervention progress through 4 verified milestones: Identified ➔ Assigned ➔ In Progress ➔ Successfully Resolved. Full FERPA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6B6D4"/>
                </a:solidFill>
              </a:defRPr>
            </a:pPr>
            <a:r>
              <a:t>Institutional Accountability &amp; Zero Dropped Cases: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Every counseling interaction records mentor notes, agreed milestone targets, and scheduled follow-ups. Deans can monitor intervention resolution rates across departments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ETHICAL AI &amp; STUDENT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Wellness Hub: Destigmatizing Academic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Empathetic, strength-based student interface eliminating punitive surveillance stigma.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Supportive Framing vs. Punitive Alerts</a:t>
            </a:r>
          </a:p>
          <a:p>
            <a:br/>
            <a:pPr>
              <a:defRPr b="1" sz="1100">
                <a:solidFill>
                  <a:srgbClr val="F43F5E"/>
                </a:solidFill>
              </a:defRPr>
            </a:pPr>
            <a:r>
              <a:t>TRADITIONAL PUNITIVE WARNINGS (DISCOURAGING):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"Warning: You are flagged with an 80% Dropout Probability. Immediate academic probation hearing scheduled."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DROPOUTGUARD WELLNESS HUB (EMPATHETIC):</a:t>
            </a:r>
          </a:p>
          <a:p>
            <a:pPr>
              <a:defRPr sz="1100" i="1">
                <a:solidFill>
                  <a:srgbClr val="FFFFFF"/>
                </a:solidFill>
              </a:defRPr>
            </a:pPr>
            <a:r>
              <a:t>"Welcome back, Aarav! You are making solid progress in Semester 4. Connect with your advisor to boost your exam prep roadmap."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Student Self-Service Tools</a:t>
            </a:r>
          </a:p>
          <a:p>
            <a:br/>
            <a:pPr>
              <a:defRPr b="1" sz="1250">
                <a:solidFill>
                  <a:srgbClr val="10B981"/>
                </a:solidFill>
              </a:defRPr>
            </a:pPr>
            <a:r>
              <a:t>✓ 1-Click Faculty Advisor Connect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Students can request guidance meetings directly with their mentor without bureaucratic delays.</a:t>
            </a:r>
          </a:p>
          <a:p>
            <a:br/>
            <a:pPr>
              <a:defRPr b="1" sz="1250">
                <a:solidFill>
                  <a:srgbClr val="06B6D4"/>
                </a:solidFill>
              </a:defRPr>
            </a:pPr>
            <a:r>
              <a:t>✓ Curated Supplementary Resources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AI-recommended lecture notes, previous year question papers, and backlog clearance modules.</a:t>
            </a:r>
          </a:p>
          <a:p>
            <a:br/>
            <a:pPr>
              <a:defRPr b="1" sz="1250">
                <a:solidFill>
                  <a:srgbClr val="6366F1"/>
                </a:solidFill>
              </a:defRPr>
            </a:pPr>
            <a:r>
              <a:t>✓ Transparent Milestones Tracker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Tracks upcoming deadlines and attendance targets in a motivating, non-stressful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ENTERPRISE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LTI 1.3 LMS Integration &amp; FERPA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Turnkey enterprise compatibility with university Learning Management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Canvas LMS</a:t>
            </a:r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LTI 1.3 Advantage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Syncs course enrollments, gradebook submissions, assignment deadlines, and student engagement telemetry via Canvas GraphQL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Blackboard Learn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REST API Telemetry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Ingests assignment submission velocity and discussion board activity to capture early student disengagement cues.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Moodle Open Source</a:t>
            </a:r>
          </a:p>
          <a:p>
            <a:pPr>
              <a:defRPr sz="1200" b="1">
                <a:solidFill>
                  <a:srgbClr val="6366F1"/>
                </a:solidFill>
              </a:defRPr>
            </a:pPr>
            <a:r>
              <a:t>OAuth 2.0 Standard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Full support for public university deployments with secure token exchange and zero proprietary vendor lock-in.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FERPA &amp; GDPR Compliance Guardrails: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Role-Based Access Control (RBAC) • Strict Data Anonymization • One-click Audit Pack Export for accreditation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BUSINESS MODEL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Institutional Impact &amp; Financial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Quantifiable tuition preservation and student success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$3.6M+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Tuition Preserved / Cohort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Calculated on a conservative 15% retention improvement across 3,000 at-risk students in a typical 10,000-student university.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450+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Graduates Saved From Dropout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More alumni entering the workforce, improving institutional national rankings, alumni giving, and state performance funding.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920240"/>
            <a:ext cx="3429000" cy="29260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103120"/>
            <a:ext cx="3063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10x ROI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Enterprise Value Proposition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SaaS platform licensing pays for itself within the very first semester by preventing just 3 to 5 student dropouts.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6366F1"/>
                </a:solidFill>
              </a:defRPr>
            </a:pPr>
            <a:r>
              <a:t>Target Market Rollout Roadmap: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Phase 1: Higher Education STEM &amp; Computing programs with high attrition rates. • Phase 2: State university systems and community college networks requiring performance-based funding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Production Engineering &amp; System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Built for zero-downtime performance, accessibility, and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28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Full-Stack Architecture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⚛️ Frontend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React 18, TypeScript, Vite, Tailwind CSS, Lucide Icons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📊 Data Visualizations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Recharts Data Suite (Pie, Scatter, Bar, Line) with responsive containers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⚙️ Backend API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Node.js Express REST API microservices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🧠 Machine Learning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Python Scikit-Learn &amp; NumPy ML inference engine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📄 Export Engines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Client-side Vector PDF Dossiers and Excel UTF-8 CSV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Hackathon Judge Fault Tolerance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Offline-First Fallback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Calibrated cohort telemetry guarantees that visualizations, simulations, and searches never crash even if free-tier cloud backends cold-start.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WCAG AA Theme Switcher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High-contrast Dark &amp; Light mode toggle with verified non-transparent text and borders.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1-Click Demo Personas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Instant access as Dean Dr. Aris Thorne, Prof. Ananya Sen, or Student Aarav Sharma without sign-up friction.</a:t>
            </a:r>
          </a:p>
          <a:p>
            <a:br/>
            <a:pPr>
              <a:defRPr b="1" sz="1200">
                <a:solidFill>
                  <a:srgbClr val="10B981"/>
                </a:solidFill>
              </a:defRPr>
            </a:pPr>
            <a:r>
              <a:t>✓ Mobile Responsive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Horizontal swipe cues and touch-friendly controls across all screen sizes.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SUMMARY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Empowering Institutions to Protect Student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Ready for institutional pilot deployment and immediate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Evaluation Resources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Live Web Application: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Deployed Live on Render (Production Build)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GitHub Repository: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https://github.com/Swas00/DropoutGuard-AI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1-Click Demo Personas: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Dean Dr. Aris Thorne • Prof. Ananya Sen • Student Aarav Sharma</a:t>
            </a:r>
          </a:p>
          <a:p>
            <a:br/>
            <a:pPr>
              <a:defRPr b="1" sz="1200">
                <a:solidFill>
                  <a:srgbClr val="06B6D4"/>
                </a:solidFill>
              </a:defRPr>
            </a:pPr>
            <a:r>
              <a:t>Presentation Link: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https://&lt;your-render-url&gt;/presentation.html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21A2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/>
            </a:pPr>
            <a:r>
              <a:t>🎓</a:t>
            </a:r>
          </a:p>
          <a:p>
            <a:pPr>
              <a:defRPr b="1" sz="2600">
                <a:solidFill>
                  <a:srgbClr val="FFFFFF"/>
                </a:solidFill>
              </a:defRPr>
            </a:pPr>
            <a:r>
              <a:t>Thank You, Evaluators!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DropoutGuard AI transforms dropout prevention from an autopsy into proactive, life-changing interventions.</a:t>
            </a:r>
          </a:p>
          <a:p>
            <a:br/>
            <a:pPr>
              <a:defRPr b="1" sz="1300">
                <a:solidFill>
                  <a:srgbClr val="10B981"/>
                </a:solidFill>
              </a:defRPr>
            </a:pPr>
            <a:r>
              <a:t>READY FOR JUDGE Q&amp;A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